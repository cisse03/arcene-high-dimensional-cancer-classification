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8" r:id="rId5"/>
    <p:sldId id="266" r:id="rId6"/>
    <p:sldId id="270" r:id="rId7"/>
    <p:sldId id="271" r:id="rId8"/>
    <p:sldId id="273" r:id="rId9"/>
    <p:sldId id="274" r:id="rId10"/>
    <p:sldId id="276" r:id="rId11"/>
    <p:sldId id="262" r:id="rId12"/>
    <p:sldId id="265" r:id="rId13"/>
    <p:sldId id="277" r:id="rId14"/>
    <p:sldId id="261" r:id="rId15"/>
    <p:sldId id="278" r:id="rId16"/>
    <p:sldId id="264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628"/>
    <a:srgbClr val="ADE8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994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91" y="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3516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630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669280" y="45720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172200" y="45720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75120" y="45720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78040" y="45720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80960" y="45720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83880" y="45720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669280" y="96012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72200" y="96012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675120" y="96012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178040" y="96012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80960" y="96012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83880" y="96012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669280" y="146304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72200" y="146304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75120" y="146304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78040" y="146304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680960" y="146304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83880" y="146304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69280" y="196596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72200" y="196596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75120" y="196596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78040" y="196596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680960" y="196596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83880" y="196596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57200"/>
            <a:ext cx="1097280" cy="10972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365760" y="8229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 Cancer</a:t>
            </a:r>
            <a:endParaRPr lang="en-US" sz="3800" dirty="0"/>
          </a:p>
        </p:txBody>
      </p:sp>
      <p:sp>
        <p:nvSpPr>
          <p:cNvPr id="29" name="Text 26"/>
          <p:cNvSpPr/>
          <p:nvPr/>
        </p:nvSpPr>
        <p:spPr>
          <a:xfrm>
            <a:off x="365760" y="15087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Using Statistical</a:t>
            </a:r>
            <a:endParaRPr lang="en-US" sz="3800" dirty="0"/>
          </a:p>
        </p:txBody>
      </p:sp>
      <p:sp>
        <p:nvSpPr>
          <p:cNvPr id="30" name="Text 27"/>
          <p:cNvSpPr/>
          <p:nvPr/>
        </p:nvSpPr>
        <p:spPr>
          <a:xfrm>
            <a:off x="365760" y="21945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Methods on the ARCENE Dataset</a:t>
            </a:r>
            <a:endParaRPr lang="en-US" sz="2800" dirty="0"/>
          </a:p>
        </p:txBody>
      </p:sp>
      <p:sp>
        <p:nvSpPr>
          <p:cNvPr id="31" name="Shape 28"/>
          <p:cNvSpPr/>
          <p:nvPr/>
        </p:nvSpPr>
        <p:spPr>
          <a:xfrm>
            <a:off x="365760" y="2926080"/>
            <a:ext cx="5029200" cy="36576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6576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Massogona Cisse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365760" y="34930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30, 2026  |  Data Mining Project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365760" y="411480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NP" dirty="0"/>
          </a:p>
        </p:txBody>
      </p:sp>
      <p:sp>
        <p:nvSpPr>
          <p:cNvPr id="35" name="Text 32"/>
          <p:cNvSpPr/>
          <p:nvPr/>
        </p:nvSpPr>
        <p:spPr>
          <a:xfrm>
            <a:off x="365760" y="4114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Predictors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2514600" y="411480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63A5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2514600" y="4114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ARCENE Dataset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Research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058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11480" y="150876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classification from molecular data is critical for </a:t>
            </a: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</a:t>
            </a: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 discovery.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ARCENE dataset provides mass-spectrometry measurements with: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200 observations 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(160 train + 40 test)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10,000 continuous predictors (p &gt; n)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Binary response: </a:t>
            </a: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(1) vs Normal (0)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91440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058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754880" y="1554480"/>
            <a:ext cx="4023360" cy="822960"/>
          </a:xfrm>
          <a:prstGeom prst="rect">
            <a:avLst/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800600" y="1572768"/>
            <a:ext cx="3931920" cy="8046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statistical learning method provides the most accurate and stable classification of cancer vs. normal in a high-dimensional setting to </a:t>
            </a:r>
            <a:r>
              <a:rPr lang="en-US" sz="1200" b="1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SENSITIVITY</a:t>
            </a:r>
            <a:r>
              <a:rPr lang="en-US" sz="12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54880" y="2514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Challenges: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754880" y="2907792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983480" y="28437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p, small n (10,000 &gt;&gt; 200)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754880" y="3255264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983480" y="31912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among predictors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754880" y="3602736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983480" y="35387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overfitting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754880" y="3950208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983480" y="3886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interpretable biomarkers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 Selection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2070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4320" y="1392703"/>
            <a:ext cx="274320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694457"/>
            <a:ext cx="274320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train + 40 test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43200" cy="12070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86868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200400" y="1392703"/>
            <a:ext cx="274320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(p)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1694457"/>
            <a:ext cx="274320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p &gt; 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743200" cy="12070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86868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126480" y="1392703"/>
            <a:ext cx="274320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694457"/>
            <a:ext cx="274320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vs. Normal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423160"/>
            <a:ext cx="8595360" cy="2038625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504093"/>
            <a:ext cx="81702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Pipeline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30663" y="3413864"/>
            <a:ext cx="237744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0357" y="2968118"/>
            <a:ext cx="1417320" cy="9261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NP" dirty="0"/>
          </a:p>
        </p:txBody>
      </p:sp>
      <p:sp>
        <p:nvSpPr>
          <p:cNvPr id="24" name="Text 22"/>
          <p:cNvSpPr/>
          <p:nvPr/>
        </p:nvSpPr>
        <p:spPr>
          <a:xfrm>
            <a:off x="460357" y="30389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Logistic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95965" y="3413864"/>
            <a:ext cx="237744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4817415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UCI Machine Learning Repository — ARCENE Dataset (ID 167)</a:t>
            </a:r>
            <a:endParaRPr lang="en-US" sz="900" dirty="0"/>
          </a:p>
        </p:txBody>
      </p:sp>
      <p:sp>
        <p:nvSpPr>
          <p:cNvPr id="46" name="Text 28">
            <a:extLst>
              <a:ext uri="{FF2B5EF4-FFF2-40B4-BE49-F238E27FC236}">
                <a16:creationId xmlns:a16="http://schemas.microsoft.com/office/drawing/2014/main" id="{10B5AC04-59A9-CB78-5C2D-F6F929DD0C4F}"/>
              </a:ext>
            </a:extLst>
          </p:cNvPr>
          <p:cNvSpPr/>
          <p:nvPr/>
        </p:nvSpPr>
        <p:spPr>
          <a:xfrm>
            <a:off x="442069" y="3417249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DE8F4"/>
                </a:solidFill>
                <a:latin typeface="Calibri" pitchFamily="34" charset="0"/>
                <a:cs typeface="Calibri" pitchFamily="34" charset="-120"/>
              </a:rPr>
              <a:t>Dimension Reduction</a:t>
            </a:r>
            <a:endParaRPr lang="en-US" sz="9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91EC564-C9C4-E359-24EA-27643737140D}"/>
              </a:ext>
            </a:extLst>
          </p:cNvPr>
          <p:cNvGrpSpPr/>
          <p:nvPr/>
        </p:nvGrpSpPr>
        <p:grpSpPr>
          <a:xfrm>
            <a:off x="2065931" y="2971582"/>
            <a:ext cx="4902342" cy="926172"/>
            <a:chOff x="2062022" y="2968118"/>
            <a:chExt cx="4902342" cy="926172"/>
          </a:xfrm>
        </p:grpSpPr>
        <p:sp>
          <p:nvSpPr>
            <p:cNvPr id="22" name="Shape 20"/>
            <p:cNvSpPr/>
            <p:nvPr/>
          </p:nvSpPr>
          <p:spPr>
            <a:xfrm>
              <a:off x="2062022" y="3349856"/>
              <a:ext cx="73152" cy="164592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3753662" y="3349856"/>
              <a:ext cx="73152" cy="164592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Shape 26"/>
            <p:cNvSpPr/>
            <p:nvPr/>
          </p:nvSpPr>
          <p:spPr>
            <a:xfrm>
              <a:off x="2151997" y="2968118"/>
              <a:ext cx="1417320" cy="926172"/>
            </a:xfrm>
            <a:prstGeom prst="rect">
              <a:avLst/>
            </a:prstGeom>
            <a:solidFill>
              <a:srgbClr val="0077B6"/>
            </a:solidFill>
            <a:ln w="12700">
              <a:solidFill>
                <a:srgbClr val="0077B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29"/>
            <p:cNvSpPr/>
            <p:nvPr/>
          </p:nvSpPr>
          <p:spPr>
            <a:xfrm>
              <a:off x="3587605" y="3413864"/>
              <a:ext cx="237744" cy="36576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30"/>
            <p:cNvSpPr/>
            <p:nvPr/>
          </p:nvSpPr>
          <p:spPr>
            <a:xfrm>
              <a:off x="5445302" y="3349856"/>
              <a:ext cx="73152" cy="164592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Shape 31"/>
            <p:cNvSpPr/>
            <p:nvPr/>
          </p:nvSpPr>
          <p:spPr>
            <a:xfrm>
              <a:off x="3843637" y="2968118"/>
              <a:ext cx="1417320" cy="926172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32"/>
            <p:cNvSpPr/>
            <p:nvPr/>
          </p:nvSpPr>
          <p:spPr>
            <a:xfrm>
              <a:off x="2170077" y="303896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Bagging</a:t>
              </a:r>
              <a:endParaRPr lang="en-US" sz="11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2170077" y="3417249"/>
              <a:ext cx="1417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ADE8F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Random Forest</a:t>
              </a:r>
              <a:endParaRPr lang="en-US" sz="9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5279245" y="3413864"/>
              <a:ext cx="237744" cy="36576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Shape 36"/>
            <p:cNvSpPr/>
            <p:nvPr/>
          </p:nvSpPr>
          <p:spPr>
            <a:xfrm>
              <a:off x="5535277" y="2968118"/>
              <a:ext cx="1417320" cy="926172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37"/>
            <p:cNvSpPr/>
            <p:nvPr/>
          </p:nvSpPr>
          <p:spPr>
            <a:xfrm>
              <a:off x="3861717" y="303896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Random Forest</a:t>
              </a:r>
              <a:endParaRPr lang="en-US" sz="11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3861717" y="3417249"/>
              <a:ext cx="1417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ADE8F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Variable Importance</a:t>
              </a:r>
              <a:endParaRPr lang="en-US" sz="900" dirty="0"/>
            </a:p>
          </p:txBody>
        </p:sp>
        <p:sp>
          <p:nvSpPr>
            <p:cNvPr id="51" name="Text 17">
              <a:extLst>
                <a:ext uri="{FF2B5EF4-FFF2-40B4-BE49-F238E27FC236}">
                  <a16:creationId xmlns:a16="http://schemas.microsoft.com/office/drawing/2014/main" id="{38462745-2460-A734-73F5-14B9E3C45F6F}"/>
                </a:ext>
              </a:extLst>
            </p:cNvPr>
            <p:cNvSpPr/>
            <p:nvPr/>
          </p:nvSpPr>
          <p:spPr>
            <a:xfrm>
              <a:off x="5547044" y="3038960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GRRF</a:t>
              </a:r>
              <a:endParaRPr lang="en-US" sz="1100" dirty="0"/>
            </a:p>
          </p:txBody>
        </p:sp>
        <p:sp>
          <p:nvSpPr>
            <p:cNvPr id="52" name="Text 18">
              <a:extLst>
                <a:ext uri="{FF2B5EF4-FFF2-40B4-BE49-F238E27FC236}">
                  <a16:creationId xmlns:a16="http://schemas.microsoft.com/office/drawing/2014/main" id="{D73B804A-4D6B-2971-FCEC-F9F84B562474}"/>
                </a:ext>
              </a:extLst>
            </p:cNvPr>
            <p:cNvSpPr/>
            <p:nvPr/>
          </p:nvSpPr>
          <p:spPr>
            <a:xfrm>
              <a:off x="5547044" y="3417249"/>
              <a:ext cx="1417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ADE8F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Guided Regularized</a:t>
              </a:r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ADE8F4"/>
                  </a:solidFill>
                  <a:latin typeface="Calibri" pitchFamily="34" charset="0"/>
                  <a:cs typeface="Calibri" pitchFamily="34" charset="-120"/>
                </a:rPr>
                <a:t>Random Forest</a:t>
              </a:r>
              <a:endParaRPr lang="en-US" sz="900" dirty="0"/>
            </a:p>
          </p:txBody>
        </p:sp>
      </p:grpSp>
      <p:sp>
        <p:nvSpPr>
          <p:cNvPr id="53" name="Shape 31">
            <a:extLst>
              <a:ext uri="{FF2B5EF4-FFF2-40B4-BE49-F238E27FC236}">
                <a16:creationId xmlns:a16="http://schemas.microsoft.com/office/drawing/2014/main" id="{EF30AC73-0826-7F5E-7343-8128E3BFB164}"/>
              </a:ext>
            </a:extLst>
          </p:cNvPr>
          <p:cNvSpPr/>
          <p:nvPr/>
        </p:nvSpPr>
        <p:spPr>
          <a:xfrm>
            <a:off x="1109475" y="4090774"/>
            <a:ext cx="6865664" cy="5655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32">
            <a:extLst>
              <a:ext uri="{FF2B5EF4-FFF2-40B4-BE49-F238E27FC236}">
                <a16:creationId xmlns:a16="http://schemas.microsoft.com/office/drawing/2014/main" id="{45CC26CC-D069-B525-B2B4-8BCF088D5715}"/>
              </a:ext>
            </a:extLst>
          </p:cNvPr>
          <p:cNvSpPr/>
          <p:nvPr/>
        </p:nvSpPr>
        <p:spPr>
          <a:xfrm>
            <a:off x="1777192" y="4148570"/>
            <a:ext cx="5443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Accurate SENSITIVITY</a:t>
            </a:r>
            <a:endParaRPr lang="en-US" sz="2400" dirty="0">
              <a:solidFill>
                <a:srgbClr val="FFFF00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CDCE8CE-0220-9A95-32A0-6D14DF4D0D19}"/>
              </a:ext>
            </a:extLst>
          </p:cNvPr>
          <p:cNvGrpSpPr/>
          <p:nvPr/>
        </p:nvGrpSpPr>
        <p:grpSpPr>
          <a:xfrm>
            <a:off x="7140126" y="2957414"/>
            <a:ext cx="1500982" cy="926172"/>
            <a:chOff x="7136942" y="2968118"/>
            <a:chExt cx="1500982" cy="926172"/>
          </a:xfrm>
        </p:grpSpPr>
        <p:sp>
          <p:nvSpPr>
            <p:cNvPr id="37" name="Shape 35"/>
            <p:cNvSpPr/>
            <p:nvPr/>
          </p:nvSpPr>
          <p:spPr>
            <a:xfrm>
              <a:off x="7136942" y="3349856"/>
              <a:ext cx="73152" cy="164592"/>
            </a:xfrm>
            <a:prstGeom prst="rect">
              <a:avLst/>
            </a:prstGeom>
            <a:solidFill>
              <a:srgbClr val="00B4D8"/>
            </a:solidFill>
            <a:ln w="12700">
              <a:solidFill>
                <a:srgbClr val="00B4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Shape 16">
              <a:extLst>
                <a:ext uri="{FF2B5EF4-FFF2-40B4-BE49-F238E27FC236}">
                  <a16:creationId xmlns:a16="http://schemas.microsoft.com/office/drawing/2014/main" id="{6A1DBD2C-FB33-DFB5-46FC-700810FDD1BA}"/>
                </a:ext>
              </a:extLst>
            </p:cNvPr>
            <p:cNvSpPr/>
            <p:nvPr/>
          </p:nvSpPr>
          <p:spPr>
            <a:xfrm>
              <a:off x="7220604" y="2968118"/>
              <a:ext cx="1417320" cy="926172"/>
            </a:xfrm>
            <a:prstGeom prst="rect">
              <a:avLst/>
            </a:prstGeom>
            <a:solidFill>
              <a:srgbClr val="0A1628"/>
            </a:solidFill>
            <a:ln w="12700">
              <a:solidFill>
                <a:srgbClr val="0A162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7">
              <a:extLst>
                <a:ext uri="{FF2B5EF4-FFF2-40B4-BE49-F238E27FC236}">
                  <a16:creationId xmlns:a16="http://schemas.microsoft.com/office/drawing/2014/main" id="{D9E773C6-4596-279C-1A27-99B8205B43D4}"/>
                </a:ext>
              </a:extLst>
            </p:cNvPr>
            <p:cNvSpPr/>
            <p:nvPr/>
          </p:nvSpPr>
          <p:spPr>
            <a:xfrm>
              <a:off x="7208837" y="3013516"/>
              <a:ext cx="14173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LDA</a:t>
              </a:r>
              <a:endParaRPr lang="en-US" sz="1100" dirty="0"/>
            </a:p>
          </p:txBody>
        </p:sp>
        <p:sp>
          <p:nvSpPr>
            <p:cNvPr id="19" name="Text 18">
              <a:extLst>
                <a:ext uri="{FF2B5EF4-FFF2-40B4-BE49-F238E27FC236}">
                  <a16:creationId xmlns:a16="http://schemas.microsoft.com/office/drawing/2014/main" id="{2C5AD47E-73ED-3D40-0801-6565680BF30D}"/>
                </a:ext>
              </a:extLst>
            </p:cNvPr>
            <p:cNvSpPr/>
            <p:nvPr/>
          </p:nvSpPr>
          <p:spPr>
            <a:xfrm>
              <a:off x="7208837" y="3417249"/>
              <a:ext cx="1417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ADE8F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Linear Discriminant </a:t>
              </a:r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ADE8F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Analysis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5">
            <a:extLst>
              <a:ext uri="{FF2B5EF4-FFF2-40B4-BE49-F238E27FC236}">
                <a16:creationId xmlns:a16="http://schemas.microsoft.com/office/drawing/2014/main" id="{28626ADF-5ABC-3B6E-29AD-22613EC032F2}"/>
              </a:ext>
            </a:extLst>
          </p:cNvPr>
          <p:cNvSpPr/>
          <p:nvPr/>
        </p:nvSpPr>
        <p:spPr>
          <a:xfrm>
            <a:off x="3291840" y="23291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F1F9D1-56C2-C4D9-BD7F-F9931AB32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200" y="2830018"/>
            <a:ext cx="4165600" cy="2100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363683-C9E4-243A-C850-3839E1260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35" y="653927"/>
            <a:ext cx="4057933" cy="20996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D5055C-9A91-356C-515E-FBF8E964C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600" y="602489"/>
            <a:ext cx="4057933" cy="209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090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1A2302-A114-2C5F-A2AE-6F6BF0F4ADE1}"/>
              </a:ext>
            </a:extLst>
          </p:cNvPr>
          <p:cNvSpPr txBox="1"/>
          <p:nvPr/>
        </p:nvSpPr>
        <p:spPr>
          <a:xfrm>
            <a:off x="1040549" y="1965921"/>
            <a:ext cx="4509738" cy="1942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Benefits</a:t>
            </a:r>
            <a:endParaRPr lang="en-US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 Creates smaller set of principal components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Reduces noise and multicollinearity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Fitted Logistic Regression </a:t>
            </a:r>
            <a:r>
              <a:rPr lang="en-US" dirty="0" err="1"/>
              <a:t>Classifer</a:t>
            </a:r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EB1ACA2-04B0-F5EC-CEDF-E11EAAB41299}"/>
              </a:ext>
            </a:extLst>
          </p:cNvPr>
          <p:cNvSpPr/>
          <p:nvPr/>
        </p:nvSpPr>
        <p:spPr>
          <a:xfrm>
            <a:off x="3444505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Logistic</a:t>
            </a: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3C611FB-57DF-0281-1633-32763227804D}"/>
              </a:ext>
            </a:extLst>
          </p:cNvPr>
          <p:cNvGrpSpPr/>
          <p:nvPr/>
        </p:nvGrpSpPr>
        <p:grpSpPr>
          <a:xfrm>
            <a:off x="2887717" y="620320"/>
            <a:ext cx="502920" cy="935631"/>
            <a:chOff x="6377939" y="846398"/>
            <a:chExt cx="502920" cy="118872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A381EB4F-B6F5-24D8-02DA-0B9DD6FAAB1A}"/>
                </a:ext>
              </a:extLst>
            </p:cNvPr>
            <p:cNvSpPr/>
            <p:nvPr/>
          </p:nvSpPr>
          <p:spPr>
            <a:xfrm>
              <a:off x="6377939" y="846398"/>
              <a:ext cx="502920" cy="1188720"/>
            </a:xfrm>
            <a:prstGeom prst="rect">
              <a:avLst/>
            </a:prstGeom>
            <a:solidFill>
              <a:srgbClr val="0077B6"/>
            </a:solidFill>
            <a:ln w="12700">
              <a:solidFill>
                <a:srgbClr val="0077B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B227C57A-6AAE-A09D-DA19-D0AA1C15C0C2}"/>
                </a:ext>
              </a:extLst>
            </p:cNvPr>
            <p:cNvSpPr/>
            <p:nvPr/>
          </p:nvSpPr>
          <p:spPr>
            <a:xfrm>
              <a:off x="6377939" y="957808"/>
              <a:ext cx="502920" cy="96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01</a:t>
              </a:r>
              <a:endParaRPr lang="en-US" sz="2000" dirty="0"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53CE2A-4EBC-6070-1323-08E8BFA4E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632347"/>
              </p:ext>
            </p:extLst>
          </p:nvPr>
        </p:nvGraphicFramePr>
        <p:xfrm>
          <a:off x="6188699" y="612713"/>
          <a:ext cx="2275463" cy="3810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506">
                  <a:extLst>
                    <a:ext uri="{9D8B030D-6E8A-4147-A177-3AD203B41FA5}">
                      <a16:colId xmlns:a16="http://schemas.microsoft.com/office/drawing/2014/main" val="1546214526"/>
                    </a:ext>
                  </a:extLst>
                </a:gridCol>
                <a:gridCol w="523895">
                  <a:extLst>
                    <a:ext uri="{9D8B030D-6E8A-4147-A177-3AD203B41FA5}">
                      <a16:colId xmlns:a16="http://schemas.microsoft.com/office/drawing/2014/main" val="3755675210"/>
                    </a:ext>
                  </a:extLst>
                </a:gridCol>
                <a:gridCol w="603531">
                  <a:extLst>
                    <a:ext uri="{9D8B030D-6E8A-4147-A177-3AD203B41FA5}">
                      <a16:colId xmlns:a16="http://schemas.microsoft.com/office/drawing/2014/main" val="470484860"/>
                    </a:ext>
                  </a:extLst>
                </a:gridCol>
                <a:gridCol w="603531">
                  <a:extLst>
                    <a:ext uri="{9D8B030D-6E8A-4147-A177-3AD203B41FA5}">
                      <a16:colId xmlns:a16="http://schemas.microsoft.com/office/drawing/2014/main" val="1582497823"/>
                    </a:ext>
                  </a:extLst>
                </a:gridCol>
              </a:tblGrid>
              <a:tr h="476254">
                <a:tc gridSpan="4">
                  <a:txBody>
                    <a:bodyPr/>
                    <a:lstStyle/>
                    <a:p>
                      <a:pPr algn="ctr"/>
                      <a:r>
                        <a:rPr lang="en-NP" sz="1600" dirty="0"/>
                        <a:t>PCA + Lgistic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NP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332118"/>
                  </a:ext>
                </a:extLst>
              </a:tr>
              <a:tr h="476254">
                <a:tc rowSpan="4">
                  <a:txBody>
                    <a:bodyPr/>
                    <a:lstStyle/>
                    <a:p>
                      <a:pPr algn="ctr"/>
                      <a:r>
                        <a:rPr lang="en-NP" sz="1600" dirty="0"/>
                        <a:t>Predicted</a:t>
                      </a:r>
                    </a:p>
                  </a:txBody>
                  <a:tcPr vert="vert27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NP" sz="1600" dirty="0"/>
                        <a:t>Actual</a:t>
                      </a:r>
                      <a:endParaRPr lang="en-NP" sz="18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NP" dirty="0"/>
                        <a:t>Actual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797897"/>
                  </a:ext>
                </a:extLst>
              </a:tr>
              <a:tr h="476254">
                <a:tc v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P" sz="18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800" b="1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800" b="1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64725"/>
                  </a:ext>
                </a:extLst>
              </a:tr>
              <a:tr h="476254">
                <a:tc v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800" b="1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8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NP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NP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473727"/>
                  </a:ext>
                </a:extLst>
              </a:tr>
              <a:tr h="476254">
                <a:tc vMerge="1">
                  <a:txBody>
                    <a:bodyPr/>
                    <a:lstStyle/>
                    <a:p>
                      <a:endParaRPr lang="en-N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800" b="1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8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800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152453"/>
                  </a:ext>
                </a:extLst>
              </a:tr>
              <a:tr h="1429311">
                <a:tc grid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rgbClr val="ADE8F4"/>
                          </a:solidFill>
                        </a:rPr>
                        <a:t>Sensitivity: 0.92 Specificity: 0.74 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rgbClr val="ADE8F4"/>
                          </a:solidFill>
                        </a:rPr>
                        <a:t>Error: 0.20</a:t>
                      </a:r>
                      <a:endParaRPr lang="en-NP" sz="1600" dirty="0">
                        <a:solidFill>
                          <a:srgbClr val="ADE8F4"/>
                        </a:solidFill>
                      </a:endParaRPr>
                    </a:p>
                  </a:txBody>
                  <a:tcPr>
                    <a:solidFill>
                      <a:srgbClr val="0A162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221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2779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1A2302-A114-2C5F-A2AE-6F6BF0F4ADE1}"/>
              </a:ext>
            </a:extLst>
          </p:cNvPr>
          <p:cNvSpPr txBox="1"/>
          <p:nvPr/>
        </p:nvSpPr>
        <p:spPr>
          <a:xfrm>
            <a:off x="499241" y="1455905"/>
            <a:ext cx="4524705" cy="277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Benefits</a:t>
            </a:r>
            <a:endParaRPr lang="en-US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  <a:r>
              <a:rPr lang="en-US" dirty="0"/>
              <a:t>Variance reduction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Bagging stabilizes trees → crucial for small 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Handles nonlinearity + interactions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Robust to noise features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B625AA-A2D4-4651-760B-138B49498EE9}"/>
              </a:ext>
            </a:extLst>
          </p:cNvPr>
          <p:cNvSpPr txBox="1"/>
          <p:nvPr/>
        </p:nvSpPr>
        <p:spPr>
          <a:xfrm>
            <a:off x="5299584" y="2412373"/>
            <a:ext cx="3402986" cy="2357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Drawbacks</a:t>
            </a:r>
            <a:endParaRPr lang="en-US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No feature selection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Uses all 10,000 variables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Computationally expensive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Influenced by irrelevant features</a:t>
            </a: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EB1ACA2-04B0-F5EC-CEDF-E11EAAB41299}"/>
              </a:ext>
            </a:extLst>
          </p:cNvPr>
          <p:cNvSpPr/>
          <p:nvPr/>
        </p:nvSpPr>
        <p:spPr>
          <a:xfrm>
            <a:off x="3444505" y="914400"/>
            <a:ext cx="43985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with RF &amp; </a:t>
            </a:r>
            <a:r>
              <a:rPr lang="en-US" sz="2400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mtry</a:t>
            </a: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</a:t>
            </a: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3C611FB-57DF-0281-1633-32763227804D}"/>
              </a:ext>
            </a:extLst>
          </p:cNvPr>
          <p:cNvGrpSpPr/>
          <p:nvPr/>
        </p:nvGrpSpPr>
        <p:grpSpPr>
          <a:xfrm>
            <a:off x="2887717" y="620320"/>
            <a:ext cx="502920" cy="935631"/>
            <a:chOff x="6377939" y="846398"/>
            <a:chExt cx="502920" cy="118872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A381EB4F-B6F5-24D8-02DA-0B9DD6FAAB1A}"/>
                </a:ext>
              </a:extLst>
            </p:cNvPr>
            <p:cNvSpPr/>
            <p:nvPr/>
          </p:nvSpPr>
          <p:spPr>
            <a:xfrm>
              <a:off x="6377939" y="846398"/>
              <a:ext cx="502920" cy="1188720"/>
            </a:xfrm>
            <a:prstGeom prst="rect">
              <a:avLst/>
            </a:prstGeom>
            <a:solidFill>
              <a:srgbClr val="0077B6"/>
            </a:solidFill>
            <a:ln w="12700">
              <a:solidFill>
                <a:srgbClr val="0077B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B227C57A-6AAE-A09D-DA19-D0AA1C15C0C2}"/>
                </a:ext>
              </a:extLst>
            </p:cNvPr>
            <p:cNvSpPr/>
            <p:nvPr/>
          </p:nvSpPr>
          <p:spPr>
            <a:xfrm>
              <a:off x="6377939" y="957808"/>
              <a:ext cx="502920" cy="96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02</a:t>
              </a:r>
              <a:endParaRPr lang="en-US" sz="2000" dirty="0"/>
            </a:p>
          </p:txBody>
        </p: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21AE33C-D840-C3CA-0B74-0EF3F626C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354837"/>
              </p:ext>
            </p:extLst>
          </p:nvPr>
        </p:nvGraphicFramePr>
        <p:xfrm>
          <a:off x="7465980" y="183575"/>
          <a:ext cx="1512228" cy="2953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868">
                  <a:extLst>
                    <a:ext uri="{9D8B030D-6E8A-4147-A177-3AD203B41FA5}">
                      <a16:colId xmlns:a16="http://schemas.microsoft.com/office/drawing/2014/main" val="1546214526"/>
                    </a:ext>
                  </a:extLst>
                </a:gridCol>
                <a:gridCol w="348170">
                  <a:extLst>
                    <a:ext uri="{9D8B030D-6E8A-4147-A177-3AD203B41FA5}">
                      <a16:colId xmlns:a16="http://schemas.microsoft.com/office/drawing/2014/main" val="3755675210"/>
                    </a:ext>
                  </a:extLst>
                </a:gridCol>
                <a:gridCol w="401095">
                  <a:extLst>
                    <a:ext uri="{9D8B030D-6E8A-4147-A177-3AD203B41FA5}">
                      <a16:colId xmlns:a16="http://schemas.microsoft.com/office/drawing/2014/main" val="470484860"/>
                    </a:ext>
                  </a:extLst>
                </a:gridCol>
                <a:gridCol w="401095">
                  <a:extLst>
                    <a:ext uri="{9D8B030D-6E8A-4147-A177-3AD203B41FA5}">
                      <a16:colId xmlns:a16="http://schemas.microsoft.com/office/drawing/2014/main" val="1582497823"/>
                    </a:ext>
                  </a:extLst>
                </a:gridCol>
              </a:tblGrid>
              <a:tr h="274806">
                <a:tc gridSpan="4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Bagging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NP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332118"/>
                  </a:ext>
                </a:extLst>
              </a:tr>
              <a:tr h="274806">
                <a:tc rowSpan="4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Predicted</a:t>
                      </a:r>
                    </a:p>
                  </a:txBody>
                  <a:tcPr vert="vert27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Actual</a:t>
                      </a:r>
                      <a:endParaRPr lang="en-NP" sz="16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NP" dirty="0"/>
                        <a:t>Actual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797897"/>
                  </a:ext>
                </a:extLst>
              </a:tr>
              <a:tr h="299535">
                <a:tc v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P" sz="16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64725"/>
                  </a:ext>
                </a:extLst>
              </a:tr>
              <a:tr h="299535">
                <a:tc v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473727"/>
                  </a:ext>
                </a:extLst>
              </a:tr>
              <a:tr h="299535">
                <a:tc vMerge="1">
                  <a:txBody>
                    <a:bodyPr/>
                    <a:lstStyle/>
                    <a:p>
                      <a:endParaRPr lang="en-N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152453"/>
                  </a:ext>
                </a:extLst>
              </a:tr>
              <a:tr h="1195815">
                <a:tc grid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n-US" sz="1400" dirty="0">
                        <a:solidFill>
                          <a:srgbClr val="ADE8F4"/>
                        </a:solidFill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ADE8F4"/>
                          </a:solidFill>
                        </a:rPr>
                        <a:t>Sensitivity: 0.77 Specificity: 0.85 Error: 0.17</a:t>
                      </a:r>
                      <a:endParaRPr lang="en-NP" sz="1400" dirty="0">
                        <a:solidFill>
                          <a:srgbClr val="ADE8F4"/>
                        </a:solidFill>
                      </a:endParaRPr>
                    </a:p>
                  </a:txBody>
                  <a:tcPr>
                    <a:solidFill>
                      <a:srgbClr val="0A162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221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169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5">
            <a:extLst>
              <a:ext uri="{FF2B5EF4-FFF2-40B4-BE49-F238E27FC236}">
                <a16:creationId xmlns:a16="http://schemas.microsoft.com/office/drawing/2014/main" id="{28626ADF-5ABC-3B6E-29AD-22613EC032F2}"/>
              </a:ext>
            </a:extLst>
          </p:cNvPr>
          <p:cNvSpPr/>
          <p:nvPr/>
        </p:nvSpPr>
        <p:spPr>
          <a:xfrm>
            <a:off x="2255520" y="474361"/>
            <a:ext cx="463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with RF &amp; </a:t>
            </a:r>
            <a:r>
              <a:rPr lang="en-US" sz="2400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mtry</a:t>
            </a: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A231CA-77EE-DE0E-6388-58B695538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21833"/>
            <a:ext cx="7772400" cy="413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93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1A2302-A114-2C5F-A2AE-6F6BF0F4ADE1}"/>
              </a:ext>
            </a:extLst>
          </p:cNvPr>
          <p:cNvSpPr txBox="1"/>
          <p:nvPr/>
        </p:nvSpPr>
        <p:spPr>
          <a:xfrm>
            <a:off x="487545" y="1317543"/>
            <a:ext cx="4800343" cy="2357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Benefits</a:t>
            </a:r>
            <a:endParaRPr lang="en-US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Implicit feature ranking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Handles high dimension better than single trees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Nonlinear + interaction modeling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B625AA-A2D4-4651-760B-138B49498EE9}"/>
              </a:ext>
            </a:extLst>
          </p:cNvPr>
          <p:cNvSpPr txBox="1"/>
          <p:nvPr/>
        </p:nvSpPr>
        <p:spPr>
          <a:xfrm>
            <a:off x="4196517" y="2842503"/>
            <a:ext cx="4800343" cy="1942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Drawbacks</a:t>
            </a:r>
            <a:endParaRPr lang="en-US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Biased toward variables with more variability.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Doesn’t reduce dimension explicitly.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Interpretability still limited</a:t>
            </a: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EB1ACA2-04B0-F5EC-CEDF-E11EAAB41299}"/>
              </a:ext>
            </a:extLst>
          </p:cNvPr>
          <p:cNvSpPr/>
          <p:nvPr/>
        </p:nvSpPr>
        <p:spPr>
          <a:xfrm>
            <a:off x="3444505" y="914400"/>
            <a:ext cx="43985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with Variable Importance</a:t>
            </a: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3C611FB-57DF-0281-1633-32763227804D}"/>
              </a:ext>
            </a:extLst>
          </p:cNvPr>
          <p:cNvGrpSpPr/>
          <p:nvPr/>
        </p:nvGrpSpPr>
        <p:grpSpPr>
          <a:xfrm>
            <a:off x="2887717" y="620320"/>
            <a:ext cx="502920" cy="935631"/>
            <a:chOff x="6377939" y="846398"/>
            <a:chExt cx="502920" cy="118872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A381EB4F-B6F5-24D8-02DA-0B9DD6FAAB1A}"/>
                </a:ext>
              </a:extLst>
            </p:cNvPr>
            <p:cNvSpPr/>
            <p:nvPr/>
          </p:nvSpPr>
          <p:spPr>
            <a:xfrm>
              <a:off x="6377939" y="846398"/>
              <a:ext cx="502920" cy="1188720"/>
            </a:xfrm>
            <a:prstGeom prst="rect">
              <a:avLst/>
            </a:prstGeom>
            <a:solidFill>
              <a:srgbClr val="0077B6"/>
            </a:solidFill>
            <a:ln w="12700">
              <a:solidFill>
                <a:srgbClr val="0077B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B227C57A-6AAE-A09D-DA19-D0AA1C15C0C2}"/>
                </a:ext>
              </a:extLst>
            </p:cNvPr>
            <p:cNvSpPr/>
            <p:nvPr/>
          </p:nvSpPr>
          <p:spPr>
            <a:xfrm>
              <a:off x="6377939" y="957808"/>
              <a:ext cx="502920" cy="96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03</a:t>
              </a:r>
              <a:endParaRPr lang="en-US" sz="2000" dirty="0"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449B9F-D9C4-F19E-BF05-FD19063EB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211957"/>
              </p:ext>
            </p:extLst>
          </p:nvPr>
        </p:nvGraphicFramePr>
        <p:xfrm>
          <a:off x="7484632" y="257252"/>
          <a:ext cx="1512228" cy="3173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868">
                  <a:extLst>
                    <a:ext uri="{9D8B030D-6E8A-4147-A177-3AD203B41FA5}">
                      <a16:colId xmlns:a16="http://schemas.microsoft.com/office/drawing/2014/main" val="1546214526"/>
                    </a:ext>
                  </a:extLst>
                </a:gridCol>
                <a:gridCol w="348170">
                  <a:extLst>
                    <a:ext uri="{9D8B030D-6E8A-4147-A177-3AD203B41FA5}">
                      <a16:colId xmlns:a16="http://schemas.microsoft.com/office/drawing/2014/main" val="3755675210"/>
                    </a:ext>
                  </a:extLst>
                </a:gridCol>
                <a:gridCol w="401095">
                  <a:extLst>
                    <a:ext uri="{9D8B030D-6E8A-4147-A177-3AD203B41FA5}">
                      <a16:colId xmlns:a16="http://schemas.microsoft.com/office/drawing/2014/main" val="470484860"/>
                    </a:ext>
                  </a:extLst>
                </a:gridCol>
                <a:gridCol w="401095">
                  <a:extLst>
                    <a:ext uri="{9D8B030D-6E8A-4147-A177-3AD203B41FA5}">
                      <a16:colId xmlns:a16="http://schemas.microsoft.com/office/drawing/2014/main" val="1582497823"/>
                    </a:ext>
                  </a:extLst>
                </a:gridCol>
              </a:tblGrid>
              <a:tr h="460442">
                <a:tc gridSpan="4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Variable Importance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NP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332118"/>
                  </a:ext>
                </a:extLst>
              </a:tr>
              <a:tr h="311012">
                <a:tc rowSpan="4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Predicted</a:t>
                      </a:r>
                    </a:p>
                  </a:txBody>
                  <a:tcPr vert="vert27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Actual</a:t>
                      </a:r>
                      <a:endParaRPr lang="en-NP" sz="16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NP" dirty="0"/>
                        <a:t>Actual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797897"/>
                  </a:ext>
                </a:extLst>
              </a:tr>
              <a:tr h="311012">
                <a:tc v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P" sz="16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64725"/>
                  </a:ext>
                </a:extLst>
              </a:tr>
              <a:tr h="311012">
                <a:tc v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473727"/>
                  </a:ext>
                </a:extLst>
              </a:tr>
              <a:tr h="311012">
                <a:tc vMerge="1">
                  <a:txBody>
                    <a:bodyPr/>
                    <a:lstStyle/>
                    <a:p>
                      <a:endParaRPr lang="en-N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152453"/>
                  </a:ext>
                </a:extLst>
              </a:tr>
              <a:tr h="1189419">
                <a:tc grid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n-US" sz="1400" dirty="0">
                        <a:solidFill>
                          <a:srgbClr val="ADE8F4"/>
                        </a:solidFill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ADE8F4"/>
                          </a:solidFill>
                        </a:rPr>
                        <a:t>Sensitivity: 0.92 Specificity: 0.81 Error: 0.15</a:t>
                      </a:r>
                      <a:endParaRPr lang="en-NP" sz="1400" dirty="0">
                        <a:solidFill>
                          <a:srgbClr val="ADE8F4"/>
                        </a:solidFill>
                      </a:endParaRPr>
                    </a:p>
                  </a:txBody>
                  <a:tcPr>
                    <a:solidFill>
                      <a:srgbClr val="0A162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221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4674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5">
            <a:extLst>
              <a:ext uri="{FF2B5EF4-FFF2-40B4-BE49-F238E27FC236}">
                <a16:creationId xmlns:a16="http://schemas.microsoft.com/office/drawing/2014/main" id="{28626ADF-5ABC-3B6E-29AD-22613EC032F2}"/>
              </a:ext>
            </a:extLst>
          </p:cNvPr>
          <p:cNvSpPr/>
          <p:nvPr/>
        </p:nvSpPr>
        <p:spPr>
          <a:xfrm>
            <a:off x="2255520" y="474361"/>
            <a:ext cx="463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with Variable Importance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B4B9C9-DDB8-002C-BCCE-6893403F17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126"/>
          <a:stretch/>
        </p:blipFill>
        <p:spPr>
          <a:xfrm>
            <a:off x="107960" y="913019"/>
            <a:ext cx="3947419" cy="18500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62F7F90-5933-39CF-8E87-97E4B4CF92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64" t="18423" r="50811"/>
          <a:stretch/>
        </p:blipFill>
        <p:spPr>
          <a:xfrm>
            <a:off x="4254297" y="1062105"/>
            <a:ext cx="4537702" cy="375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13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1A2302-A114-2C5F-A2AE-6F6BF0F4ADE1}"/>
              </a:ext>
            </a:extLst>
          </p:cNvPr>
          <p:cNvSpPr txBox="1"/>
          <p:nvPr/>
        </p:nvSpPr>
        <p:spPr>
          <a:xfrm>
            <a:off x="487545" y="1261872"/>
            <a:ext cx="4800343" cy="401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Benefits</a:t>
            </a:r>
            <a:endParaRPr lang="en-US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Handles high dimension better than single trees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Implicit feature ranking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Nonlinear + interaction modeling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18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informative feature subset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Bridges interpretability of Lasso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8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ensemble power.</a:t>
            </a:r>
            <a:endParaRPr lang="en-US" sz="1800" dirty="0">
              <a:solidFill>
                <a:srgbClr val="0A1628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B625AA-A2D4-4651-760B-138B49498EE9}"/>
              </a:ext>
            </a:extLst>
          </p:cNvPr>
          <p:cNvSpPr txBox="1"/>
          <p:nvPr/>
        </p:nvSpPr>
        <p:spPr>
          <a:xfrm>
            <a:off x="4385733" y="2842503"/>
            <a:ext cx="4611127" cy="1942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Drawbacks</a:t>
            </a:r>
            <a:endParaRPr lang="en-US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Biased toward variables with more variability.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Doesn’t reduce dimension explicitly.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Interpretability still limited</a:t>
            </a: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EB1ACA2-04B0-F5EC-CEDF-E11EAAB41299}"/>
              </a:ext>
            </a:extLst>
          </p:cNvPr>
          <p:cNvSpPr/>
          <p:nvPr/>
        </p:nvSpPr>
        <p:spPr>
          <a:xfrm>
            <a:off x="2877066" y="914399"/>
            <a:ext cx="44908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Regularized Random Forest</a:t>
            </a: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3C611FB-57DF-0281-1633-32763227804D}"/>
              </a:ext>
            </a:extLst>
          </p:cNvPr>
          <p:cNvGrpSpPr/>
          <p:nvPr/>
        </p:nvGrpSpPr>
        <p:grpSpPr>
          <a:xfrm>
            <a:off x="2339076" y="620320"/>
            <a:ext cx="502920" cy="935631"/>
            <a:chOff x="6377939" y="846398"/>
            <a:chExt cx="502920" cy="118872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A381EB4F-B6F5-24D8-02DA-0B9DD6FAAB1A}"/>
                </a:ext>
              </a:extLst>
            </p:cNvPr>
            <p:cNvSpPr/>
            <p:nvPr/>
          </p:nvSpPr>
          <p:spPr>
            <a:xfrm>
              <a:off x="6377939" y="846398"/>
              <a:ext cx="502920" cy="1188720"/>
            </a:xfrm>
            <a:prstGeom prst="rect">
              <a:avLst/>
            </a:prstGeom>
            <a:solidFill>
              <a:srgbClr val="0077B6"/>
            </a:solidFill>
            <a:ln w="12700">
              <a:solidFill>
                <a:srgbClr val="0077B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B227C57A-6AAE-A09D-DA19-D0AA1C15C0C2}"/>
                </a:ext>
              </a:extLst>
            </p:cNvPr>
            <p:cNvSpPr/>
            <p:nvPr/>
          </p:nvSpPr>
          <p:spPr>
            <a:xfrm>
              <a:off x="6377939" y="957808"/>
              <a:ext cx="502920" cy="96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04</a:t>
              </a:r>
              <a:endParaRPr lang="en-US" sz="2000" dirty="0"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A29BA7E-E60C-D385-D4CA-CBFFA44ED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597790"/>
              </p:ext>
            </p:extLst>
          </p:nvPr>
        </p:nvGraphicFramePr>
        <p:xfrm>
          <a:off x="7484632" y="353113"/>
          <a:ext cx="1512228" cy="3088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868">
                  <a:extLst>
                    <a:ext uri="{9D8B030D-6E8A-4147-A177-3AD203B41FA5}">
                      <a16:colId xmlns:a16="http://schemas.microsoft.com/office/drawing/2014/main" val="1546214526"/>
                    </a:ext>
                  </a:extLst>
                </a:gridCol>
                <a:gridCol w="348170">
                  <a:extLst>
                    <a:ext uri="{9D8B030D-6E8A-4147-A177-3AD203B41FA5}">
                      <a16:colId xmlns:a16="http://schemas.microsoft.com/office/drawing/2014/main" val="3755675210"/>
                    </a:ext>
                  </a:extLst>
                </a:gridCol>
                <a:gridCol w="401095">
                  <a:extLst>
                    <a:ext uri="{9D8B030D-6E8A-4147-A177-3AD203B41FA5}">
                      <a16:colId xmlns:a16="http://schemas.microsoft.com/office/drawing/2014/main" val="470484860"/>
                    </a:ext>
                  </a:extLst>
                </a:gridCol>
                <a:gridCol w="401095">
                  <a:extLst>
                    <a:ext uri="{9D8B030D-6E8A-4147-A177-3AD203B41FA5}">
                      <a16:colId xmlns:a16="http://schemas.microsoft.com/office/drawing/2014/main" val="1582497823"/>
                    </a:ext>
                  </a:extLst>
                </a:gridCol>
              </a:tblGrid>
              <a:tr h="349999">
                <a:tc gridSpan="4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GRRF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NP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332118"/>
                  </a:ext>
                </a:extLst>
              </a:tr>
              <a:tr h="349999">
                <a:tc rowSpan="4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Predicted</a:t>
                      </a:r>
                    </a:p>
                  </a:txBody>
                  <a:tcPr vert="vert27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Actual</a:t>
                      </a:r>
                      <a:endParaRPr lang="en-NP" sz="16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NP" dirty="0"/>
                        <a:t>Actual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797897"/>
                  </a:ext>
                </a:extLst>
              </a:tr>
              <a:tr h="349999">
                <a:tc v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P" sz="16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64725"/>
                  </a:ext>
                </a:extLst>
              </a:tr>
              <a:tr h="349999">
                <a:tc v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473727"/>
                  </a:ext>
                </a:extLst>
              </a:tr>
              <a:tr h="349999">
                <a:tc vMerge="1">
                  <a:txBody>
                    <a:bodyPr/>
                    <a:lstStyle/>
                    <a:p>
                      <a:endParaRPr lang="en-N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152453"/>
                  </a:ext>
                </a:extLst>
              </a:tr>
              <a:tr h="1050400">
                <a:tc grid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n-US" sz="1400" dirty="0">
                        <a:solidFill>
                          <a:srgbClr val="ADE8F4"/>
                        </a:solidFill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ADE8F4"/>
                          </a:solidFill>
                        </a:rPr>
                        <a:t>Sensitivity: 1.00 Specificity: 0.93 Error: 0.05</a:t>
                      </a:r>
                      <a:endParaRPr lang="en-NP" sz="1400" dirty="0">
                        <a:solidFill>
                          <a:srgbClr val="ADE8F4"/>
                        </a:solidFill>
                      </a:endParaRPr>
                    </a:p>
                  </a:txBody>
                  <a:tcPr>
                    <a:solidFill>
                      <a:srgbClr val="0A162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221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6001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GRRF: Guided Regularized Random Forest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" y="822960"/>
            <a:ext cx="5029200" cy="822960"/>
          </a:xfrm>
          <a:prstGeom prst="rect">
            <a:avLst/>
          </a:prstGeom>
          <a:solidFill>
            <a:srgbClr val="0D1F33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85039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RRF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124712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unguided RRF (flagReg=0) to get feature importances across all 10,000 predictors.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41148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847088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49808" y="1847088"/>
            <a:ext cx="5029200" cy="822960"/>
          </a:xfrm>
          <a:prstGeom prst="rect">
            <a:avLst/>
          </a:prstGeom>
          <a:solidFill>
            <a:srgbClr val="0D1F33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18745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Guided Coefficients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14884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coefGRRF = (1−γ) + γ × (importance / max_importance)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0.75 balances regularization &amp; importance.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71216"/>
            <a:ext cx="41148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871216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9808" y="2871216"/>
            <a:ext cx="5029200" cy="822960"/>
          </a:xfrm>
          <a:prstGeom prst="rect">
            <a:avLst/>
          </a:prstGeom>
          <a:solidFill>
            <a:srgbClr val="0D1F33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289864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RRF Training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17296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with flagReg=1 and coefGRRF to penalize feature selection by importance-adjusted weights.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895344"/>
            <a:ext cx="41148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3895344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49808" y="3895344"/>
            <a:ext cx="5029200" cy="822960"/>
          </a:xfrm>
          <a:prstGeom prst="rect">
            <a:avLst/>
          </a:prstGeom>
          <a:solidFill>
            <a:srgbClr val="0D1F33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392277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197096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feaSet — a compact informative subset used for final classification.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822960"/>
            <a:ext cx="2834640" cy="3977640"/>
          </a:xfrm>
          <a:prstGeom prst="rect">
            <a:avLst/>
          </a:prstGeom>
          <a:solidFill>
            <a:srgbClr val="0D1F33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72200" y="914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GRRF?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172200" y="1371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Feature Sparsity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16733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only informative features from 10K+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72200" y="21214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Guided by Importance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2423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RF importances to direct regularization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72200" y="287121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Interpretable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72200" y="31729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gap: Lasso interpretability + RF power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72200" y="36210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High Accuracy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392277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sensitivity &amp; specificity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3FEA87F-8CAE-0B8E-4A90-0401862E5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535005"/>
              </p:ext>
            </p:extLst>
          </p:nvPr>
        </p:nvGraphicFramePr>
        <p:xfrm>
          <a:off x="318648" y="1249025"/>
          <a:ext cx="1512228" cy="3088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868">
                  <a:extLst>
                    <a:ext uri="{9D8B030D-6E8A-4147-A177-3AD203B41FA5}">
                      <a16:colId xmlns:a16="http://schemas.microsoft.com/office/drawing/2014/main" val="1546214526"/>
                    </a:ext>
                  </a:extLst>
                </a:gridCol>
                <a:gridCol w="348170">
                  <a:extLst>
                    <a:ext uri="{9D8B030D-6E8A-4147-A177-3AD203B41FA5}">
                      <a16:colId xmlns:a16="http://schemas.microsoft.com/office/drawing/2014/main" val="3755675210"/>
                    </a:ext>
                  </a:extLst>
                </a:gridCol>
                <a:gridCol w="401095">
                  <a:extLst>
                    <a:ext uri="{9D8B030D-6E8A-4147-A177-3AD203B41FA5}">
                      <a16:colId xmlns:a16="http://schemas.microsoft.com/office/drawing/2014/main" val="470484860"/>
                    </a:ext>
                  </a:extLst>
                </a:gridCol>
                <a:gridCol w="401095">
                  <a:extLst>
                    <a:ext uri="{9D8B030D-6E8A-4147-A177-3AD203B41FA5}">
                      <a16:colId xmlns:a16="http://schemas.microsoft.com/office/drawing/2014/main" val="1582497823"/>
                    </a:ext>
                  </a:extLst>
                </a:gridCol>
              </a:tblGrid>
              <a:tr h="349999">
                <a:tc gridSpan="4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PCA + L</a:t>
                      </a:r>
                      <a:r>
                        <a:rPr lang="en-US" sz="1400" dirty="0"/>
                        <a:t>o</a:t>
                      </a:r>
                      <a:r>
                        <a:rPr lang="en-NP" sz="1400" dirty="0"/>
                        <a:t>gistic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NP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332118"/>
                  </a:ext>
                </a:extLst>
              </a:tr>
              <a:tr h="349999">
                <a:tc rowSpan="4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Predicted</a:t>
                      </a:r>
                    </a:p>
                  </a:txBody>
                  <a:tcPr vert="vert27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Actual</a:t>
                      </a:r>
                      <a:endParaRPr lang="en-NP" sz="16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NP" dirty="0"/>
                        <a:t>Actual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797897"/>
                  </a:ext>
                </a:extLst>
              </a:tr>
              <a:tr h="349999">
                <a:tc v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P" sz="16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64725"/>
                  </a:ext>
                </a:extLst>
              </a:tr>
              <a:tr h="349999">
                <a:tc v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473727"/>
                  </a:ext>
                </a:extLst>
              </a:tr>
              <a:tr h="349999">
                <a:tc vMerge="1">
                  <a:txBody>
                    <a:bodyPr/>
                    <a:lstStyle/>
                    <a:p>
                      <a:endParaRPr lang="en-N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152453"/>
                  </a:ext>
                </a:extLst>
              </a:tr>
              <a:tr h="1050400">
                <a:tc grid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n-US" sz="1400" dirty="0">
                        <a:solidFill>
                          <a:srgbClr val="ADE8F4"/>
                        </a:solidFill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ADE8F4"/>
                          </a:solidFill>
                        </a:rPr>
                        <a:t>Sensitivity: 0.92 Specificity: 0.74 Error: 0.20</a:t>
                      </a:r>
                      <a:endParaRPr lang="en-NP" sz="1400" dirty="0">
                        <a:solidFill>
                          <a:srgbClr val="ADE8F4"/>
                        </a:solidFill>
                      </a:endParaRPr>
                    </a:p>
                  </a:txBody>
                  <a:tcPr>
                    <a:solidFill>
                      <a:srgbClr val="0A162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22192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FBC2BFB-5CD1-3A2C-B6E4-7E955D123FA3}"/>
              </a:ext>
            </a:extLst>
          </p:cNvPr>
          <p:cNvGraphicFramePr>
            <a:graphicFrameLocks noGrp="1"/>
          </p:cNvGraphicFramePr>
          <p:nvPr/>
        </p:nvGraphicFramePr>
        <p:xfrm>
          <a:off x="2045080" y="436792"/>
          <a:ext cx="1512228" cy="3088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868">
                  <a:extLst>
                    <a:ext uri="{9D8B030D-6E8A-4147-A177-3AD203B41FA5}">
                      <a16:colId xmlns:a16="http://schemas.microsoft.com/office/drawing/2014/main" val="1546214526"/>
                    </a:ext>
                  </a:extLst>
                </a:gridCol>
                <a:gridCol w="348170">
                  <a:extLst>
                    <a:ext uri="{9D8B030D-6E8A-4147-A177-3AD203B41FA5}">
                      <a16:colId xmlns:a16="http://schemas.microsoft.com/office/drawing/2014/main" val="3755675210"/>
                    </a:ext>
                  </a:extLst>
                </a:gridCol>
                <a:gridCol w="401095">
                  <a:extLst>
                    <a:ext uri="{9D8B030D-6E8A-4147-A177-3AD203B41FA5}">
                      <a16:colId xmlns:a16="http://schemas.microsoft.com/office/drawing/2014/main" val="470484860"/>
                    </a:ext>
                  </a:extLst>
                </a:gridCol>
                <a:gridCol w="401095">
                  <a:extLst>
                    <a:ext uri="{9D8B030D-6E8A-4147-A177-3AD203B41FA5}">
                      <a16:colId xmlns:a16="http://schemas.microsoft.com/office/drawing/2014/main" val="1582497823"/>
                    </a:ext>
                  </a:extLst>
                </a:gridCol>
              </a:tblGrid>
              <a:tr h="349999">
                <a:tc gridSpan="4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Bagging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NP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332118"/>
                  </a:ext>
                </a:extLst>
              </a:tr>
              <a:tr h="349999">
                <a:tc rowSpan="4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Predicted</a:t>
                      </a:r>
                    </a:p>
                  </a:txBody>
                  <a:tcPr vert="vert27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Actual</a:t>
                      </a:r>
                      <a:endParaRPr lang="en-NP" sz="16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NP" dirty="0"/>
                        <a:t>Actual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797897"/>
                  </a:ext>
                </a:extLst>
              </a:tr>
              <a:tr h="349999">
                <a:tc v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P" sz="16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64725"/>
                  </a:ext>
                </a:extLst>
              </a:tr>
              <a:tr h="349999">
                <a:tc v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473727"/>
                  </a:ext>
                </a:extLst>
              </a:tr>
              <a:tr h="349999">
                <a:tc vMerge="1">
                  <a:txBody>
                    <a:bodyPr/>
                    <a:lstStyle/>
                    <a:p>
                      <a:endParaRPr lang="en-N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152453"/>
                  </a:ext>
                </a:extLst>
              </a:tr>
              <a:tr h="1050400">
                <a:tc grid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n-US" sz="1400" dirty="0">
                        <a:solidFill>
                          <a:srgbClr val="ADE8F4"/>
                        </a:solidFill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ADE8F4"/>
                          </a:solidFill>
                        </a:rPr>
                        <a:t>Sensitivity: 0.77 Specificity: 0.85 Error: 0.17</a:t>
                      </a:r>
                      <a:endParaRPr lang="en-NP" sz="1400" dirty="0">
                        <a:solidFill>
                          <a:srgbClr val="ADE8F4"/>
                        </a:solidFill>
                      </a:endParaRPr>
                    </a:p>
                  </a:txBody>
                  <a:tcPr>
                    <a:solidFill>
                      <a:srgbClr val="0A162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22192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9CB5F74-948A-B404-1BC6-13F134D79D8A}"/>
              </a:ext>
            </a:extLst>
          </p:cNvPr>
          <p:cNvGraphicFramePr>
            <a:graphicFrameLocks noGrp="1"/>
          </p:cNvGraphicFramePr>
          <p:nvPr/>
        </p:nvGraphicFramePr>
        <p:xfrm>
          <a:off x="3756270" y="1249025"/>
          <a:ext cx="1512228" cy="32566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868">
                  <a:extLst>
                    <a:ext uri="{9D8B030D-6E8A-4147-A177-3AD203B41FA5}">
                      <a16:colId xmlns:a16="http://schemas.microsoft.com/office/drawing/2014/main" val="1546214526"/>
                    </a:ext>
                  </a:extLst>
                </a:gridCol>
                <a:gridCol w="348170">
                  <a:extLst>
                    <a:ext uri="{9D8B030D-6E8A-4147-A177-3AD203B41FA5}">
                      <a16:colId xmlns:a16="http://schemas.microsoft.com/office/drawing/2014/main" val="3755675210"/>
                    </a:ext>
                  </a:extLst>
                </a:gridCol>
                <a:gridCol w="401095">
                  <a:extLst>
                    <a:ext uri="{9D8B030D-6E8A-4147-A177-3AD203B41FA5}">
                      <a16:colId xmlns:a16="http://schemas.microsoft.com/office/drawing/2014/main" val="470484860"/>
                    </a:ext>
                  </a:extLst>
                </a:gridCol>
                <a:gridCol w="401095">
                  <a:extLst>
                    <a:ext uri="{9D8B030D-6E8A-4147-A177-3AD203B41FA5}">
                      <a16:colId xmlns:a16="http://schemas.microsoft.com/office/drawing/2014/main" val="1582497823"/>
                    </a:ext>
                  </a:extLst>
                </a:gridCol>
              </a:tblGrid>
              <a:tr h="349999">
                <a:tc gridSpan="4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Variable Importance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NP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332118"/>
                  </a:ext>
                </a:extLst>
              </a:tr>
              <a:tr h="349999">
                <a:tc rowSpan="4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Predicted</a:t>
                      </a:r>
                    </a:p>
                  </a:txBody>
                  <a:tcPr vert="vert27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Actual</a:t>
                      </a:r>
                      <a:endParaRPr lang="en-NP" sz="16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NP" dirty="0"/>
                        <a:t>Actual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797897"/>
                  </a:ext>
                </a:extLst>
              </a:tr>
              <a:tr h="349999">
                <a:tc v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P" sz="16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64725"/>
                  </a:ext>
                </a:extLst>
              </a:tr>
              <a:tr h="349999">
                <a:tc v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473727"/>
                  </a:ext>
                </a:extLst>
              </a:tr>
              <a:tr h="349999">
                <a:tc vMerge="1">
                  <a:txBody>
                    <a:bodyPr/>
                    <a:lstStyle/>
                    <a:p>
                      <a:endParaRPr lang="en-N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152453"/>
                  </a:ext>
                </a:extLst>
              </a:tr>
              <a:tr h="1050400">
                <a:tc grid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n-US" sz="1400" dirty="0">
                        <a:solidFill>
                          <a:srgbClr val="ADE8F4"/>
                        </a:solidFill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ADE8F4"/>
                          </a:solidFill>
                        </a:rPr>
                        <a:t>Sensitivity: 0.92 Specificity: 0.81 Error: 0.15</a:t>
                      </a:r>
                      <a:endParaRPr lang="en-NP" sz="1400" dirty="0">
                        <a:solidFill>
                          <a:srgbClr val="ADE8F4"/>
                        </a:solidFill>
                      </a:endParaRPr>
                    </a:p>
                  </a:txBody>
                  <a:tcPr>
                    <a:solidFill>
                      <a:srgbClr val="0A162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22192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2F6DF27-8D83-7AE9-5A11-BDDE5E94A7E8}"/>
              </a:ext>
            </a:extLst>
          </p:cNvPr>
          <p:cNvGraphicFramePr>
            <a:graphicFrameLocks noGrp="1"/>
          </p:cNvGraphicFramePr>
          <p:nvPr/>
        </p:nvGraphicFramePr>
        <p:xfrm>
          <a:off x="5482702" y="436792"/>
          <a:ext cx="1512228" cy="3088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868">
                  <a:extLst>
                    <a:ext uri="{9D8B030D-6E8A-4147-A177-3AD203B41FA5}">
                      <a16:colId xmlns:a16="http://schemas.microsoft.com/office/drawing/2014/main" val="1546214526"/>
                    </a:ext>
                  </a:extLst>
                </a:gridCol>
                <a:gridCol w="348170">
                  <a:extLst>
                    <a:ext uri="{9D8B030D-6E8A-4147-A177-3AD203B41FA5}">
                      <a16:colId xmlns:a16="http://schemas.microsoft.com/office/drawing/2014/main" val="3755675210"/>
                    </a:ext>
                  </a:extLst>
                </a:gridCol>
                <a:gridCol w="401095">
                  <a:extLst>
                    <a:ext uri="{9D8B030D-6E8A-4147-A177-3AD203B41FA5}">
                      <a16:colId xmlns:a16="http://schemas.microsoft.com/office/drawing/2014/main" val="470484860"/>
                    </a:ext>
                  </a:extLst>
                </a:gridCol>
                <a:gridCol w="401095">
                  <a:extLst>
                    <a:ext uri="{9D8B030D-6E8A-4147-A177-3AD203B41FA5}">
                      <a16:colId xmlns:a16="http://schemas.microsoft.com/office/drawing/2014/main" val="1582497823"/>
                    </a:ext>
                  </a:extLst>
                </a:gridCol>
              </a:tblGrid>
              <a:tr h="349999">
                <a:tc gridSpan="4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GRRF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NP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332118"/>
                  </a:ext>
                </a:extLst>
              </a:tr>
              <a:tr h="349999">
                <a:tc rowSpan="4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Predicted</a:t>
                      </a:r>
                    </a:p>
                  </a:txBody>
                  <a:tcPr vert="vert27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Actual</a:t>
                      </a:r>
                      <a:endParaRPr lang="en-NP" sz="16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NP" dirty="0"/>
                        <a:t>Actual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797897"/>
                  </a:ext>
                </a:extLst>
              </a:tr>
              <a:tr h="349999">
                <a:tc v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P" sz="16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64725"/>
                  </a:ext>
                </a:extLst>
              </a:tr>
              <a:tr h="349999">
                <a:tc v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25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473727"/>
                  </a:ext>
                </a:extLst>
              </a:tr>
              <a:tr h="349999">
                <a:tc vMerge="1">
                  <a:txBody>
                    <a:bodyPr/>
                    <a:lstStyle/>
                    <a:p>
                      <a:endParaRPr lang="en-N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152453"/>
                  </a:ext>
                </a:extLst>
              </a:tr>
              <a:tr h="1050400">
                <a:tc grid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n-US" sz="1400" dirty="0">
                        <a:solidFill>
                          <a:srgbClr val="ADE8F4"/>
                        </a:solidFill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ADE8F4"/>
                          </a:solidFill>
                        </a:rPr>
                        <a:t>Sensitivity: 1.00 Specificity: 0.93 Error: 0.05</a:t>
                      </a:r>
                      <a:endParaRPr lang="en-NP" sz="1400" dirty="0">
                        <a:solidFill>
                          <a:srgbClr val="ADE8F4"/>
                        </a:solidFill>
                      </a:endParaRPr>
                    </a:p>
                  </a:txBody>
                  <a:tcPr>
                    <a:solidFill>
                      <a:srgbClr val="0A162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221923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B47977-7F54-5D49-D804-AD807A993F0F}"/>
              </a:ext>
            </a:extLst>
          </p:cNvPr>
          <p:cNvGraphicFramePr>
            <a:graphicFrameLocks noGrp="1"/>
          </p:cNvGraphicFramePr>
          <p:nvPr/>
        </p:nvGraphicFramePr>
        <p:xfrm>
          <a:off x="7193892" y="1249025"/>
          <a:ext cx="1512228" cy="3088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868">
                  <a:extLst>
                    <a:ext uri="{9D8B030D-6E8A-4147-A177-3AD203B41FA5}">
                      <a16:colId xmlns:a16="http://schemas.microsoft.com/office/drawing/2014/main" val="1546214526"/>
                    </a:ext>
                  </a:extLst>
                </a:gridCol>
                <a:gridCol w="348170">
                  <a:extLst>
                    <a:ext uri="{9D8B030D-6E8A-4147-A177-3AD203B41FA5}">
                      <a16:colId xmlns:a16="http://schemas.microsoft.com/office/drawing/2014/main" val="3755675210"/>
                    </a:ext>
                  </a:extLst>
                </a:gridCol>
                <a:gridCol w="401095">
                  <a:extLst>
                    <a:ext uri="{9D8B030D-6E8A-4147-A177-3AD203B41FA5}">
                      <a16:colId xmlns:a16="http://schemas.microsoft.com/office/drawing/2014/main" val="470484860"/>
                    </a:ext>
                  </a:extLst>
                </a:gridCol>
                <a:gridCol w="401095">
                  <a:extLst>
                    <a:ext uri="{9D8B030D-6E8A-4147-A177-3AD203B41FA5}">
                      <a16:colId xmlns:a16="http://schemas.microsoft.com/office/drawing/2014/main" val="1582497823"/>
                    </a:ext>
                  </a:extLst>
                </a:gridCol>
              </a:tblGrid>
              <a:tr h="349999">
                <a:tc gridSpan="4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PCA + LDA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NP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332118"/>
                  </a:ext>
                </a:extLst>
              </a:tr>
              <a:tr h="349999">
                <a:tc rowSpan="4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Predicted</a:t>
                      </a:r>
                    </a:p>
                  </a:txBody>
                  <a:tcPr vert="vert27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NP" sz="1400" dirty="0"/>
                        <a:t>Actual</a:t>
                      </a:r>
                      <a:endParaRPr lang="en-NP" sz="16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NP" dirty="0"/>
                        <a:t>Actual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797897"/>
                  </a:ext>
                </a:extLst>
              </a:tr>
              <a:tr h="349999">
                <a:tc v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P" sz="16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64725"/>
                  </a:ext>
                </a:extLst>
              </a:tr>
              <a:tr h="349999">
                <a:tc v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473727"/>
                  </a:ext>
                </a:extLst>
              </a:tr>
              <a:tr h="349999">
                <a:tc vMerge="1">
                  <a:txBody>
                    <a:bodyPr/>
                    <a:lstStyle/>
                    <a:p>
                      <a:endParaRPr lang="en-N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b="1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600" dirty="0">
                          <a:solidFill>
                            <a:schemeClr val="bg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152453"/>
                  </a:ext>
                </a:extLst>
              </a:tr>
              <a:tr h="1050400">
                <a:tc grid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endParaRPr lang="en-US" sz="1400" dirty="0">
                        <a:solidFill>
                          <a:srgbClr val="ADE8F4"/>
                        </a:solidFill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ADE8F4"/>
                          </a:solidFill>
                        </a:rPr>
                        <a:t>Sensitivity: 1.00 Specificity: 0.85 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rgbClr val="ADE8F4"/>
                          </a:solidFill>
                        </a:rPr>
                        <a:t>Error: 0.10</a:t>
                      </a:r>
                      <a:endParaRPr lang="en-NP" sz="1400" dirty="0">
                        <a:solidFill>
                          <a:srgbClr val="ADE8F4"/>
                        </a:solidFill>
                      </a:endParaRPr>
                    </a:p>
                  </a:txBody>
                  <a:tcPr>
                    <a:solidFill>
                      <a:srgbClr val="0A162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221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4611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1A2302-A114-2C5F-A2AE-6F6BF0F4ADE1}"/>
              </a:ext>
            </a:extLst>
          </p:cNvPr>
          <p:cNvSpPr txBox="1"/>
          <p:nvPr/>
        </p:nvSpPr>
        <p:spPr>
          <a:xfrm>
            <a:off x="500000" y="1965921"/>
            <a:ext cx="5500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Benefits</a:t>
            </a:r>
            <a:endParaRPr lang="en-US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 Shared covariance acts as regularization for small 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 PCA reduces 10,000 to 130 components (95% variance)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 Linear boundary: stable estimates with limited data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 Perfect sensitivity: every cancer case detected</a:t>
            </a: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EB1ACA2-04B0-F5EC-CEDF-E11EAAB41299}"/>
              </a:ext>
            </a:extLst>
          </p:cNvPr>
          <p:cNvSpPr/>
          <p:nvPr/>
        </p:nvSpPr>
        <p:spPr>
          <a:xfrm>
            <a:off x="3444505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LDA</a:t>
            </a:r>
            <a:endParaRPr lang="en-US" sz="24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3C611FB-57DF-0281-1633-32763227804D}"/>
              </a:ext>
            </a:extLst>
          </p:cNvPr>
          <p:cNvGrpSpPr/>
          <p:nvPr/>
        </p:nvGrpSpPr>
        <p:grpSpPr>
          <a:xfrm>
            <a:off x="2887717" y="620320"/>
            <a:ext cx="502920" cy="935631"/>
            <a:chOff x="6377939" y="846398"/>
            <a:chExt cx="502920" cy="118872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A381EB4F-B6F5-24D8-02DA-0B9DD6FAAB1A}"/>
                </a:ext>
              </a:extLst>
            </p:cNvPr>
            <p:cNvSpPr/>
            <p:nvPr/>
          </p:nvSpPr>
          <p:spPr>
            <a:xfrm>
              <a:off x="6377939" y="846398"/>
              <a:ext cx="502920" cy="1188720"/>
            </a:xfrm>
            <a:prstGeom prst="rect">
              <a:avLst/>
            </a:prstGeom>
            <a:solidFill>
              <a:srgbClr val="0077B6"/>
            </a:solidFill>
            <a:ln w="12700">
              <a:solidFill>
                <a:srgbClr val="0077B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B227C57A-6AAE-A09D-DA19-D0AA1C15C0C2}"/>
                </a:ext>
              </a:extLst>
            </p:cNvPr>
            <p:cNvSpPr/>
            <p:nvPr/>
          </p:nvSpPr>
          <p:spPr>
            <a:xfrm>
              <a:off x="6377939" y="957808"/>
              <a:ext cx="502920" cy="96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05</a:t>
              </a:r>
              <a:endParaRPr lang="en-US" sz="2000" dirty="0"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53CE2A-4EBC-6070-1323-08E8BFA4E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567809"/>
              </p:ext>
            </p:extLst>
          </p:nvPr>
        </p:nvGraphicFramePr>
        <p:xfrm>
          <a:off x="6188699" y="626781"/>
          <a:ext cx="2275463" cy="3810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506">
                  <a:extLst>
                    <a:ext uri="{9D8B030D-6E8A-4147-A177-3AD203B41FA5}">
                      <a16:colId xmlns:a16="http://schemas.microsoft.com/office/drawing/2014/main" val="1546214526"/>
                    </a:ext>
                  </a:extLst>
                </a:gridCol>
                <a:gridCol w="523895">
                  <a:extLst>
                    <a:ext uri="{9D8B030D-6E8A-4147-A177-3AD203B41FA5}">
                      <a16:colId xmlns:a16="http://schemas.microsoft.com/office/drawing/2014/main" val="3755675210"/>
                    </a:ext>
                  </a:extLst>
                </a:gridCol>
                <a:gridCol w="603531">
                  <a:extLst>
                    <a:ext uri="{9D8B030D-6E8A-4147-A177-3AD203B41FA5}">
                      <a16:colId xmlns:a16="http://schemas.microsoft.com/office/drawing/2014/main" val="470484860"/>
                    </a:ext>
                  </a:extLst>
                </a:gridCol>
                <a:gridCol w="603531">
                  <a:extLst>
                    <a:ext uri="{9D8B030D-6E8A-4147-A177-3AD203B41FA5}">
                      <a16:colId xmlns:a16="http://schemas.microsoft.com/office/drawing/2014/main" val="1582497823"/>
                    </a:ext>
                  </a:extLst>
                </a:gridCol>
              </a:tblGrid>
              <a:tr h="476254">
                <a:tc gridSpan="4">
                  <a:txBody>
                    <a:bodyPr/>
                    <a:lstStyle/>
                    <a:p>
                      <a:pPr algn="ctr"/>
                      <a:r>
                        <a:rPr lang="en-NP" sz="1600" dirty="0"/>
                        <a:t>PCA + LDA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NP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332118"/>
                  </a:ext>
                </a:extLst>
              </a:tr>
              <a:tr h="476254">
                <a:tc rowSpan="4">
                  <a:txBody>
                    <a:bodyPr/>
                    <a:lstStyle/>
                    <a:p>
                      <a:pPr algn="ctr"/>
                      <a:r>
                        <a:rPr lang="en-NP" sz="1600" dirty="0"/>
                        <a:t>Predicted</a:t>
                      </a:r>
                    </a:p>
                  </a:txBody>
                  <a:tcPr vert="vert27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NP" sz="1600" dirty="0"/>
                        <a:t>Actual</a:t>
                      </a:r>
                      <a:endParaRPr lang="en-NP" sz="18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NP" dirty="0"/>
                        <a:t>Actual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797897"/>
                  </a:ext>
                </a:extLst>
              </a:tr>
              <a:tr h="476254">
                <a:tc v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P" sz="18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800" b="1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800" b="1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64725"/>
                  </a:ext>
                </a:extLst>
              </a:tr>
              <a:tr h="476254">
                <a:tc vMerge="1">
                  <a:txBody>
                    <a:bodyPr/>
                    <a:lstStyle/>
                    <a:p>
                      <a:endParaRPr lang="en-N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800" b="1" dirty="0"/>
                        <a:t>0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800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8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473727"/>
                  </a:ext>
                </a:extLst>
              </a:tr>
              <a:tr h="476254">
                <a:tc vMerge="1">
                  <a:txBody>
                    <a:bodyPr/>
                    <a:lstStyle/>
                    <a:p>
                      <a:endParaRPr lang="en-N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800" b="1" dirty="0"/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8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P" sz="1800" dirty="0">
                          <a:solidFill>
                            <a:schemeClr val="bg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152453"/>
                  </a:ext>
                </a:extLst>
              </a:tr>
              <a:tr h="1429311">
                <a:tc gridSpan="4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rgbClr val="ADE8F4"/>
                          </a:solidFill>
                        </a:rPr>
                        <a:t>Sensitivity: 1.00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rgbClr val="ADE8F4"/>
                          </a:solidFill>
                        </a:rPr>
                        <a:t> Specificity:  0.85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>
                          <a:solidFill>
                            <a:srgbClr val="ADE8F4"/>
                          </a:solidFill>
                        </a:rPr>
                        <a:t>Error: 0.10</a:t>
                      </a:r>
                      <a:endParaRPr lang="en-NP" sz="1600" dirty="0">
                        <a:solidFill>
                          <a:srgbClr val="ADE8F4"/>
                        </a:solidFill>
                      </a:endParaRPr>
                    </a:p>
                  </a:txBody>
                  <a:tcPr>
                    <a:solidFill>
                      <a:srgbClr val="0A162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b="1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NP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221923"/>
                  </a:ext>
                </a:extLst>
              </a:tr>
            </a:tbl>
          </a:graphicData>
        </a:graphic>
      </p:graphicFrame>
      <p:sp>
        <p:nvSpPr>
          <p:cNvPr id="100" name="AUC Explainer"/>
          <p:cNvSpPr txBox="1"/>
          <p:nvPr/>
        </p:nvSpPr>
        <p:spPr>
          <a:xfrm>
            <a:off x="500000" y="4570000"/>
            <a:ext cx="5500000" cy="5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B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measures how well the model ranks cancer vs. normal across all thresholds — 1.0 is perfect, 0.5 is random. PCA + LDA achieves AUC = 0.972, indicating near-perfect ranking.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3221680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F50EBA-3293-1122-DA7F-23BD57EA8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001" y="757600"/>
            <a:ext cx="6373247" cy="43239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101" name="ConclusionCard1"/>
          <p:cNvSpPr/>
          <p:nvPr/>
        </p:nvSpPr>
        <p:spPr>
          <a:xfrm>
            <a:off x="274320" y="800000"/>
            <a:ext cx="8595360" cy="1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1" name="ConclHeader1"/>
          <p:cNvSpPr txBox="1"/>
          <p:nvPr/>
        </p:nvSpPr>
        <p:spPr>
          <a:xfrm>
            <a:off x="502920" y="950000"/>
            <a:ext cx="8138160" cy="38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Priority: Sensitivity</a:t>
            </a:r>
            <a:endParaRPr lang="en-US" sz="1600" dirty="0"/>
          </a:p>
        </p:txBody>
      </p:sp>
      <p:sp>
        <p:nvSpPr>
          <p:cNvPr id="301" name="ConclBody1"/>
          <p:cNvSpPr txBox="1"/>
          <p:nvPr/>
        </p:nvSpPr>
        <p:spPr>
          <a:xfrm>
            <a:off x="502920" y="1380000"/>
            <a:ext cx="8138160" cy="5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cancer screening, a false negative — a cancer patient sent home undiagnosed — carries far greater consequences than a false positive. Sensitivity is therefore the primary metric for model selection.</a:t>
            </a:r>
            <a:endParaRPr lang="en-US" sz="1300" dirty="0"/>
          </a:p>
        </p:txBody>
      </p:sp>
      <p:sp>
        <p:nvSpPr>
          <p:cNvPr id="102" name="ConclusionCard2"/>
          <p:cNvSpPr/>
          <p:nvPr/>
        </p:nvSpPr>
        <p:spPr>
          <a:xfrm>
            <a:off x="274320" y="2000000"/>
            <a:ext cx="8595360" cy="1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2" name="ConclHeader2"/>
          <p:cNvSpPr txBox="1"/>
          <p:nvPr/>
        </p:nvSpPr>
        <p:spPr>
          <a:xfrm>
            <a:off x="502920" y="2150000"/>
            <a:ext cx="8138160" cy="38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Recommendation</a:t>
            </a:r>
            <a:endParaRPr lang="en-US" sz="1600" dirty="0"/>
          </a:p>
        </p:txBody>
      </p:sp>
      <p:sp>
        <p:nvSpPr>
          <p:cNvPr id="302" name="ConclBody2"/>
          <p:cNvSpPr txBox="1"/>
          <p:nvPr/>
        </p:nvSpPr>
        <p:spPr>
          <a:xfrm>
            <a:off x="502920" y="2580000"/>
            <a:ext cx="8138160" cy="13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PCA + LDA — perfect sensitivity (1.00), error 0.10, AUC 0.972. Every cancer case in the test set was correctly identified.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alternative: GRRF — lowest error rate (0.07) and selects only 11 features from 10,000, providing a candidate biomarker shortlist for follow-up biological investigation.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Bagging and Random Forest — competitive accuracy through variance reduction in high-dimensional setting.</a:t>
            </a:r>
            <a:endParaRPr lang="en-US" sz="1300" dirty="0"/>
          </a:p>
        </p:txBody>
      </p:sp>
      <p:sp>
        <p:nvSpPr>
          <p:cNvPr id="103" name="ConclusionCard3"/>
          <p:cNvSpPr/>
          <p:nvPr/>
        </p:nvSpPr>
        <p:spPr>
          <a:xfrm>
            <a:off x="274320" y="4000000"/>
            <a:ext cx="859536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3" name="ConclHeader3"/>
          <p:cNvSpPr txBox="1"/>
          <p:nvPr/>
        </p:nvSpPr>
        <p:spPr>
          <a:xfrm>
            <a:off x="502920" y="4150000"/>
            <a:ext cx="8138160" cy="38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303" name="ConclBody3"/>
          <p:cNvSpPr txBox="1"/>
          <p:nvPr/>
        </p:nvSpPr>
        <p:spPr>
          <a:xfrm>
            <a:off x="502920" y="4580000"/>
            <a:ext cx="8138160" cy="4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high-dimensional settings, structural assumptions like LDA's share</a:t>
            </a:r>
            <a:endParaRPr lang="en-US" sz="1300" dirty="0"/>
          </a:p>
        </p:txBody>
      </p:sp>
      <p:sp>
        <p:nvSpPr>
          <p:cNvPr id="10" name="Card 1 BG"/>
          <p:cNvSpPr/>
          <p:nvPr/>
        </p:nvSpPr>
        <p:spPr>
          <a:xfrm>
            <a:off x="274320" y="820000"/>
            <a:ext cx="859536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Card 1 Text"/>
          <p:cNvSpPr txBox="1"/>
          <p:nvPr/>
        </p:nvSpPr>
        <p:spPr>
          <a:xfrm>
            <a:off x="502920" y="900000"/>
            <a:ext cx="8138160" cy="9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Priority: Sensitivity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cancer screening, a false negative — a cancer patient sent home undiagnosed — carries far greater consequences than a false positive. Sensitivity is therefore the primary metric for model selection.</a:t>
            </a:r>
            <a:endParaRPr lang="en-US" sz="1100" dirty="0"/>
          </a:p>
        </p:txBody>
      </p:sp>
      <p:sp>
        <p:nvSpPr>
          <p:cNvPr id="12" name="Card 2 BG"/>
          <p:cNvSpPr/>
          <p:nvPr/>
        </p:nvSpPr>
        <p:spPr>
          <a:xfrm>
            <a:off x="274320" y="1960000"/>
            <a:ext cx="8595360" cy="20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Card 2 Text"/>
          <p:cNvSpPr txBox="1"/>
          <p:nvPr/>
        </p:nvSpPr>
        <p:spPr>
          <a:xfrm>
            <a:off x="502920" y="2030000"/>
            <a:ext cx="8138160" cy="19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Performance Metrics</a:t>
            </a:r>
          </a:p>
          <a:p>
            <a:pPr marL="171450" indent="-1714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</a:rPr>
              <a:t>Primary: PCA + LDA:</a:t>
            </a:r>
            <a:r>
              <a:rPr lang="en-US" sz="1100" dirty="0">
                <a:solidFill>
                  <a:srgbClr val="0A1628"/>
                </a:solidFill>
                <a:latin typeface="Calibri" pitchFamily="34" charset="0"/>
              </a:rPr>
              <a:t> perfect sensitivity (1.00), error 0.10, specificity 0.10. Every cancer case in the test set was correctly identified through a stable linear boundary on PCA components.</a:t>
            </a:r>
          </a:p>
          <a:p>
            <a:pPr marL="171450" indent="-1714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</a:rPr>
              <a:t>Strong alternative: GRRF</a:t>
            </a:r>
            <a:r>
              <a:rPr lang="en-US" sz="1100" dirty="0">
                <a:solidFill>
                  <a:srgbClr val="0A1628"/>
                </a:solidFill>
                <a:latin typeface="Calibri" pitchFamily="34" charset="0"/>
              </a:rPr>
              <a:t> also achieves perfect sensitivity (1.00), with the highest specificity (0.93), lowest error rate (0.05), and selects only 12 features from 10,000 a candidate biomarker shortlist for follow-up biological investigation.</a:t>
            </a:r>
          </a:p>
          <a:p>
            <a:pPr marL="171450" indent="-1714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</a:rPr>
              <a:t>Backup: Bagging and Random Forest with Variable Importance,</a:t>
            </a:r>
            <a:r>
              <a:rPr lang="en-US" sz="1100" dirty="0">
                <a:solidFill>
                  <a:srgbClr val="0A1628"/>
                </a:solidFill>
                <a:latin typeface="Calibri" pitchFamily="34" charset="0"/>
              </a:rPr>
              <a:t> competitive accuracy through variance reduction in the high-dimensional setting.</a:t>
            </a:r>
            <a:endParaRPr lang="en-US" sz="1100" dirty="0"/>
          </a:p>
        </p:txBody>
      </p:sp>
      <p:sp>
        <p:nvSpPr>
          <p:cNvPr id="14" name="Card 3 BG"/>
          <p:cNvSpPr/>
          <p:nvPr/>
        </p:nvSpPr>
        <p:spPr>
          <a:xfrm>
            <a:off x="274320" y="4050000"/>
            <a:ext cx="8595360" cy="10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Card 3 Text"/>
          <p:cNvSpPr txBox="1"/>
          <p:nvPr/>
        </p:nvSpPr>
        <p:spPr>
          <a:xfrm>
            <a:off x="502920" y="4120000"/>
            <a:ext cx="8138160" cy="9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high-dimensional settings, structural assumptions like LDA's shared covariance regularize effectively when n is small, while feature-selection methods like GRRF deliver compact interpretable models. Both win under p &gt;&gt; n for different reasons.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96701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2011680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398" y="2240280"/>
            <a:ext cx="27432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  |  April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926080"/>
            <a:ext cx="1645920" cy="1188720"/>
          </a:xfrm>
          <a:prstGeom prst="rect">
            <a:avLst/>
          </a:prstGeom>
          <a:solidFill>
            <a:srgbClr val="0D1F33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971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ARCENE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3547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2926080"/>
            <a:ext cx="1645920" cy="1188720"/>
          </a:xfrm>
          <a:prstGeom prst="rect">
            <a:avLst/>
          </a:prstGeom>
          <a:solidFill>
            <a:srgbClr val="0D1F33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11680" y="2971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011680" y="3547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2926080"/>
            <a:ext cx="1645920" cy="1188720"/>
          </a:xfrm>
          <a:prstGeom prst="rect">
            <a:avLst/>
          </a:prstGeom>
          <a:solidFill>
            <a:srgbClr val="0D1F33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49040" y="2971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749040" y="3547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2926080"/>
            <a:ext cx="1645920" cy="1188720"/>
          </a:xfrm>
          <a:prstGeom prst="rect">
            <a:avLst/>
          </a:prstGeom>
          <a:solidFill>
            <a:srgbClr val="0D1F33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0" y="2971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GRRF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86400" y="3547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3760" y="2926080"/>
            <a:ext cx="1645920" cy="1188720"/>
          </a:xfrm>
          <a:prstGeom prst="rect">
            <a:avLst/>
          </a:prstGeom>
          <a:solidFill>
            <a:srgbClr val="0D1F33"/>
          </a:solidFill>
          <a:ln w="12700">
            <a:solidFill>
              <a:srgbClr val="16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23760" y="2971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547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Error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UCI ML Repository — https://archive.ics.uci.edu/dataset/167/arcene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2078</TotalTime>
  <Words>1161</Words>
  <Application>Microsoft Office PowerPoint</Application>
  <PresentationFormat>On-screen Show (16:9)</PresentationFormat>
  <Paragraphs>294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ARCENE Cancer Classification</dc:title>
  <dc:subject>PptxGenJS Presentation</dc:subject>
  <dc:creator>Suman Gorkhali</dc:creator>
  <cp:lastModifiedBy>Massogona Cisse</cp:lastModifiedBy>
  <cp:revision>80</cp:revision>
  <dcterms:created xsi:type="dcterms:W3CDTF">2026-04-27T02:01:03Z</dcterms:created>
  <dcterms:modified xsi:type="dcterms:W3CDTF">2026-06-24T01:45:47Z</dcterms:modified>
</cp:coreProperties>
</file>